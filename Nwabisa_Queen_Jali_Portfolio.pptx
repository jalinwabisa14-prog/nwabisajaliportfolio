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8" d="100"/>
          <a:sy n="88" d="100"/>
        </p:scale>
        <p:origin x="624" y="8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518090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45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1463040"/>
            <a:ext cx="4754880" cy="4754880"/>
          </a:xfrm>
          <a:prstGeom prst="ellipse">
            <a:avLst/>
          </a:prstGeom>
          <a:solidFill>
            <a:srgbClr val="2F3C7E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24160" y="-182880"/>
            <a:ext cx="2377440" cy="2377440"/>
          </a:xfrm>
          <a:prstGeom prst="ellipse">
            <a:avLst/>
          </a:prstGeom>
          <a:solidFill>
            <a:srgbClr val="F96167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188720" y="5120640"/>
            <a:ext cx="3291840" cy="3291840"/>
          </a:xfrm>
          <a:prstGeom prst="ellipse">
            <a:avLst/>
          </a:prstGeom>
          <a:solidFill>
            <a:srgbClr val="2F3C7E">
              <a:alpha val="5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051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 IMMEDIATELY  ·  BCOM MARKETING MANAGEMENT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85800" y="2606040"/>
            <a:ext cx="9601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Nwabisa Queen Jali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731520" y="361188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CF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&amp; Campaign Specialist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731520" y="4343400"/>
            <a:ext cx="914400" cy="0"/>
          </a:xfrm>
          <a:prstGeom prst="line">
            <a:avLst/>
          </a:prstGeom>
          <a:noFill/>
          <a:ln w="38100">
            <a:solidFill>
              <a:srgbClr val="F9616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452628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B9BC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research, consumer insight, and initiative into practical campaign ideas — with hands-on experience in retail merchandising and EdTech product development.</a:t>
            </a:r>
            <a:endParaRPr lang="en-US" sz="1400" dirty="0"/>
          </a:p>
        </p:txBody>
      </p:sp>
      <p:pic>
        <p:nvPicPr>
          <p:cNvPr id="10" name="Image 0" descr="/home/claude/jali_pptx/icons/mail_F9E79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5806440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024128" y="5751576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6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jali.nwabisa14@gmail.com</a:t>
            </a:r>
            <a:endParaRPr lang="en-US" sz="1150" dirty="0"/>
          </a:p>
        </p:txBody>
      </p:sp>
      <p:pic>
        <p:nvPicPr>
          <p:cNvPr id="12" name="Image 1" descr="/home/claude/jali_pptx/icons/phone_F9E79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46120" y="5806440"/>
            <a:ext cx="219456" cy="21945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538728" y="5751576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6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073 022 4379</a:t>
            </a:r>
            <a:endParaRPr lang="en-US" sz="1150" dirty="0"/>
          </a:p>
        </p:txBody>
      </p:sp>
      <p:pic>
        <p:nvPicPr>
          <p:cNvPr id="14" name="Image 2" descr="/home/claude/jali_pptx/icons/mappin_F9E79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60720" y="5806440"/>
            <a:ext cx="219456" cy="21945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053328" y="5751576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6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Orlando East, Soweto, South Africa</a:t>
            </a:r>
            <a:endParaRPr lang="en-US" sz="1150" dirty="0"/>
          </a:p>
        </p:txBody>
      </p:sp>
    </p:spTree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ME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4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Marketing with purpose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6309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i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Research, strategy, creativity, and collaboration.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1965960"/>
            <a:ext cx="630936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6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am a Marketing Management graduate from the University of Johannesburg with a practical foundation in brand support, campaign planning, market research, consumer behaviour, and retail merchandising.
My experience includes co-founding School2gether, a South African EdTech platform connecting learners, tutors, and parents; supporting product placement at Shoprite P.F.M; and managing customer bookings and records at RSA Group.
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6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bring initiative, clear communication, and a willingness to learn to every team — and I'm currently seeking a marketing, brand, campaign, or related internship, part-time, or full-time opportunities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4892040"/>
            <a:ext cx="6309360" cy="1417320"/>
          </a:xfrm>
          <a:prstGeom prst="roundRect">
            <a:avLst>
              <a:gd name="adj" fmla="val 5161"/>
            </a:avLst>
          </a:prstGeom>
          <a:solidFill>
            <a:srgbClr val="F7F7F9"/>
          </a:solidFill>
          <a:ln/>
        </p:spPr>
      </p:sp>
      <p:pic>
        <p:nvPicPr>
          <p:cNvPr id="7" name="Image 0" descr="/home/claude/jali_pptx/icons/mappin_2F3C7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5102352"/>
            <a:ext cx="237744" cy="23774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07008" y="50749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4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BCom Marketing Management · University of Johannesburg</a:t>
            </a:r>
            <a:endParaRPr lang="en-US" sz="1200" dirty="0"/>
          </a:p>
        </p:txBody>
      </p:sp>
      <p:pic>
        <p:nvPicPr>
          <p:cNvPr id="9" name="Image 1" descr="/home/claude/jali_pptx/icons/checkcircle_2F3C7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5468112"/>
            <a:ext cx="237744" cy="23774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207008" y="54406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6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 African citizen · Open to internships and full-time roles</a:t>
            </a:r>
            <a:endParaRPr lang="en-US" sz="1200" dirty="0"/>
          </a:p>
        </p:txBody>
      </p:sp>
      <p:pic>
        <p:nvPicPr>
          <p:cNvPr id="11" name="Image 2" descr="/home/claude/jali_pptx/icons/linkedin_2F3C7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" y="5852160"/>
            <a:ext cx="237744" cy="237744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207008" y="58247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6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linkedin.com/in/nwabisa-jali</a:t>
            </a:r>
            <a:endParaRPr lang="en-US" sz="1200" dirty="0"/>
          </a:p>
        </p:txBody>
      </p:sp>
      <p:sp>
        <p:nvSpPr>
          <p:cNvPr id="13" name="Shape 8"/>
          <p:cNvSpPr/>
          <p:nvPr/>
        </p:nvSpPr>
        <p:spPr>
          <a:xfrm>
            <a:off x="7360920" y="777240"/>
            <a:ext cx="4160520" cy="1097280"/>
          </a:xfrm>
          <a:prstGeom prst="roundRect">
            <a:avLst>
              <a:gd name="adj" fmla="val 7500"/>
            </a:avLst>
          </a:prstGeom>
          <a:solidFill>
            <a:srgbClr val="1B2456"/>
          </a:solidFill>
          <a:ln/>
        </p:spPr>
      </p:sp>
      <p:sp>
        <p:nvSpPr>
          <p:cNvPr id="14" name="Text 9"/>
          <p:cNvSpPr/>
          <p:nvPr/>
        </p:nvSpPr>
        <p:spPr>
          <a:xfrm>
            <a:off x="7589520" y="886968"/>
            <a:ext cx="1463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9E7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2025</a:t>
            </a:r>
            <a:endParaRPr lang="en-US" sz="4000" dirty="0"/>
          </a:p>
        </p:txBody>
      </p:sp>
      <p:sp>
        <p:nvSpPr>
          <p:cNvPr id="15" name="Text 10"/>
          <p:cNvSpPr/>
          <p:nvPr/>
        </p:nvSpPr>
        <p:spPr>
          <a:xfrm>
            <a:off x="9052560" y="886968"/>
            <a:ext cx="2286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BCOM GRADUATE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7360920" y="2075688"/>
            <a:ext cx="4160520" cy="1097280"/>
          </a:xfrm>
          <a:prstGeom prst="roundRect">
            <a:avLst>
              <a:gd name="adj" fmla="val 7500"/>
            </a:avLst>
          </a:prstGeom>
          <a:solidFill>
            <a:srgbClr val="2F3C7E"/>
          </a:solidFill>
          <a:ln/>
        </p:spPr>
      </p:sp>
      <p:sp>
        <p:nvSpPr>
          <p:cNvPr id="17" name="Text 12"/>
          <p:cNvSpPr/>
          <p:nvPr/>
        </p:nvSpPr>
        <p:spPr>
          <a:xfrm>
            <a:off x="7589520" y="2185416"/>
            <a:ext cx="1463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9E7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9052560" y="2185416"/>
            <a:ext cx="2286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EXPERIENCE AREAS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7360920" y="3374136"/>
            <a:ext cx="4160520" cy="1097280"/>
          </a:xfrm>
          <a:prstGeom prst="roundRect">
            <a:avLst>
              <a:gd name="adj" fmla="val 7500"/>
            </a:avLst>
          </a:prstGeom>
          <a:solidFill>
            <a:srgbClr val="1B2456"/>
          </a:solidFill>
          <a:ln/>
        </p:spPr>
      </p:sp>
      <p:sp>
        <p:nvSpPr>
          <p:cNvPr id="20" name="Text 15"/>
          <p:cNvSpPr/>
          <p:nvPr/>
        </p:nvSpPr>
        <p:spPr>
          <a:xfrm>
            <a:off x="7589520" y="3483864"/>
            <a:ext cx="1463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9E7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4000" dirty="0"/>
          </a:p>
        </p:txBody>
      </p:sp>
      <p:sp>
        <p:nvSpPr>
          <p:cNvPr id="21" name="Text 16"/>
          <p:cNvSpPr/>
          <p:nvPr/>
        </p:nvSpPr>
        <p:spPr>
          <a:xfrm>
            <a:off x="9052560" y="3483864"/>
            <a:ext cx="2286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CERTIFICATIONS</a:t>
            </a:r>
            <a:endParaRPr lang="en-US" sz="1250" dirty="0"/>
          </a:p>
        </p:txBody>
      </p:sp>
      <p:sp>
        <p:nvSpPr>
          <p:cNvPr id="22" name="Shape 17"/>
          <p:cNvSpPr/>
          <p:nvPr/>
        </p:nvSpPr>
        <p:spPr>
          <a:xfrm>
            <a:off x="7360920" y="4672584"/>
            <a:ext cx="4160520" cy="1097280"/>
          </a:xfrm>
          <a:prstGeom prst="roundRect">
            <a:avLst>
              <a:gd name="adj" fmla="val 7500"/>
            </a:avLst>
          </a:prstGeom>
          <a:solidFill>
            <a:srgbClr val="2F3C7E"/>
          </a:solidFill>
          <a:ln/>
        </p:spPr>
      </p:sp>
      <p:sp>
        <p:nvSpPr>
          <p:cNvPr id="23" name="Text 18"/>
          <p:cNvSpPr/>
          <p:nvPr/>
        </p:nvSpPr>
        <p:spPr>
          <a:xfrm>
            <a:off x="7589520" y="4782312"/>
            <a:ext cx="1463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9E7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4000" dirty="0"/>
          </a:p>
        </p:txBody>
      </p:sp>
      <p:sp>
        <p:nvSpPr>
          <p:cNvPr id="24" name="Text 19"/>
          <p:cNvSpPr/>
          <p:nvPr/>
        </p:nvSpPr>
        <p:spPr>
          <a:xfrm>
            <a:off x="9052560" y="4782312"/>
            <a:ext cx="2286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LANGUAGES SPOKEN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9BC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COMPETENCIES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4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 bring to a team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5349240" cy="2286000"/>
          </a:xfrm>
          <a:prstGeom prst="roundRect">
            <a:avLst>
              <a:gd name="adj" fmla="val 3600"/>
            </a:avLst>
          </a:prstGeom>
          <a:solidFill>
            <a:srgbClr val="FFFFFF"/>
          </a:solidFill>
          <a:ln w="12700">
            <a:solidFill>
              <a:srgbClr val="E4E5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1874520"/>
            <a:ext cx="502920" cy="502920"/>
          </a:xfrm>
          <a:prstGeom prst="ellipse">
            <a:avLst/>
          </a:prstGeom>
          <a:solidFill>
            <a:srgbClr val="1B2456"/>
          </a:solidFill>
          <a:ln/>
        </p:spPr>
      </p:sp>
      <p:pic>
        <p:nvPicPr>
          <p:cNvPr id="6" name="Image 0" descr="/home/claude/jali_pptx/icons/target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7844" y="1997964"/>
            <a:ext cx="256032" cy="2560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1856232"/>
            <a:ext cx="4251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B24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&amp; Campaigns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960120" y="2514600"/>
            <a:ext cx="47091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lnSpc>
                <a:spcPct val="125000"/>
              </a:lnSpc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26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strategy support</a:t>
            </a:r>
            <a:endParaRPr lang="en-US" sz="1250" dirty="0"/>
          </a:p>
          <a:p>
            <a:pPr marL="177800" indent="-177800">
              <a:lnSpc>
                <a:spcPct val="125000"/>
              </a:lnSpc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26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 planning</a:t>
            </a:r>
            <a:endParaRPr lang="en-US" sz="1250" dirty="0"/>
          </a:p>
          <a:p>
            <a:pPr marL="177800" indent="-177800">
              <a:lnSpc>
                <a:spcPct val="125000"/>
              </a:lnSpc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26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Go-to-market thinking</a:t>
            </a:r>
            <a:endParaRPr lang="en-US" sz="1250" dirty="0"/>
          </a:p>
          <a:p>
            <a:pPr marL="177800" indent="-177800">
              <a:lnSpc>
                <a:spcPct val="125000"/>
              </a:lnSpc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26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Promotional campaigns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263640" y="1600200"/>
            <a:ext cx="5349240" cy="2286000"/>
          </a:xfrm>
          <a:prstGeom prst="roundRect">
            <a:avLst>
              <a:gd name="adj" fmla="val 3600"/>
            </a:avLst>
          </a:prstGeom>
          <a:solidFill>
            <a:srgbClr val="FFFFFF"/>
          </a:solidFill>
          <a:ln w="12700">
            <a:solidFill>
              <a:srgbClr val="E4E5EE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537960" y="1874520"/>
            <a:ext cx="502920" cy="502920"/>
          </a:xfrm>
          <a:prstGeom prst="ellipse">
            <a:avLst/>
          </a:prstGeom>
          <a:solidFill>
            <a:srgbClr val="1B2456"/>
          </a:solidFill>
          <a:ln/>
        </p:spPr>
      </p:sp>
      <p:pic>
        <p:nvPicPr>
          <p:cNvPr id="11" name="Image 1" descr="/home/claude/jali_pptx/icons/search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1404" y="1997964"/>
            <a:ext cx="256032" cy="25603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178040" y="1856232"/>
            <a:ext cx="4251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B24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&amp; Insight</a:t>
            </a:r>
            <a:endParaRPr lang="en-US" sz="1650" dirty="0"/>
          </a:p>
        </p:txBody>
      </p:sp>
      <p:sp>
        <p:nvSpPr>
          <p:cNvPr id="13" name="Text 9"/>
          <p:cNvSpPr/>
          <p:nvPr/>
        </p:nvSpPr>
        <p:spPr>
          <a:xfrm>
            <a:off x="6583680" y="2514600"/>
            <a:ext cx="47091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lnSpc>
                <a:spcPct val="125000"/>
              </a:lnSpc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26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 behaviour analysis</a:t>
            </a:r>
            <a:endParaRPr lang="en-US" sz="1250" dirty="0"/>
          </a:p>
          <a:p>
            <a:pPr marL="177800" indent="-177800">
              <a:lnSpc>
                <a:spcPct val="125000"/>
              </a:lnSpc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26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research</a:t>
            </a:r>
            <a:endParaRPr lang="en-US" sz="1250" dirty="0"/>
          </a:p>
          <a:p>
            <a:pPr marL="177800" indent="-177800">
              <a:lnSpc>
                <a:spcPct val="125000"/>
              </a:lnSpc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26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Competitor analysis</a:t>
            </a:r>
            <a:endParaRPr lang="en-US" sz="1250" dirty="0"/>
          </a:p>
          <a:p>
            <a:pPr marL="177800" indent="-177800">
              <a:lnSpc>
                <a:spcPct val="125000"/>
              </a:lnSpc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26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segments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640080" y="4160520"/>
            <a:ext cx="5349240" cy="2286000"/>
          </a:xfrm>
          <a:prstGeom prst="roundRect">
            <a:avLst>
              <a:gd name="adj" fmla="val 3600"/>
            </a:avLst>
          </a:prstGeom>
          <a:solidFill>
            <a:srgbClr val="FFFFFF"/>
          </a:solidFill>
          <a:ln w="12700">
            <a:solidFill>
              <a:srgbClr val="E4E5EE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914400" y="4434840"/>
            <a:ext cx="502920" cy="502920"/>
          </a:xfrm>
          <a:prstGeom prst="ellipse">
            <a:avLst/>
          </a:prstGeom>
          <a:solidFill>
            <a:srgbClr val="1B2456"/>
          </a:solidFill>
          <a:ln/>
        </p:spPr>
      </p:sp>
      <p:pic>
        <p:nvPicPr>
          <p:cNvPr id="16" name="Image 2" descr="/home/claude/jali_pptx/icons/shoppingbag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7844" y="4558284"/>
            <a:ext cx="256032" cy="25603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554480" y="4416552"/>
            <a:ext cx="4251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B24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&amp; Digital</a:t>
            </a:r>
            <a:endParaRPr lang="en-US" sz="1650" dirty="0"/>
          </a:p>
        </p:txBody>
      </p:sp>
      <p:sp>
        <p:nvSpPr>
          <p:cNvPr id="18" name="Text 13"/>
          <p:cNvSpPr/>
          <p:nvPr/>
        </p:nvSpPr>
        <p:spPr>
          <a:xfrm>
            <a:off x="960120" y="5074920"/>
            <a:ext cx="47091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lnSpc>
                <a:spcPct val="125000"/>
              </a:lnSpc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26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merchandising</a:t>
            </a:r>
            <a:endParaRPr lang="en-US" sz="1250" dirty="0"/>
          </a:p>
          <a:p>
            <a:pPr marL="177800" indent="-177800">
              <a:lnSpc>
                <a:spcPct val="125000"/>
              </a:lnSpc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26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placement</a:t>
            </a:r>
            <a:endParaRPr lang="en-US" sz="1250" dirty="0"/>
          </a:p>
          <a:p>
            <a:pPr marL="177800" indent="-177800">
              <a:lnSpc>
                <a:spcPct val="125000"/>
              </a:lnSpc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26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media engagement</a:t>
            </a:r>
            <a:endParaRPr lang="en-US" sz="1250" dirty="0"/>
          </a:p>
          <a:p>
            <a:pPr marL="177800" indent="-177800">
              <a:lnSpc>
                <a:spcPct val="125000"/>
              </a:lnSpc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26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marketing trends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6263640" y="4160520"/>
            <a:ext cx="5349240" cy="2286000"/>
          </a:xfrm>
          <a:prstGeom prst="roundRect">
            <a:avLst>
              <a:gd name="adj" fmla="val 3600"/>
            </a:avLst>
          </a:prstGeom>
          <a:solidFill>
            <a:srgbClr val="FFFFFF"/>
          </a:solidFill>
          <a:ln w="12700">
            <a:solidFill>
              <a:srgbClr val="E4E5EE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6537960" y="4434840"/>
            <a:ext cx="502920" cy="502920"/>
          </a:xfrm>
          <a:prstGeom prst="ellipse">
            <a:avLst/>
          </a:prstGeom>
          <a:solidFill>
            <a:srgbClr val="1B2456"/>
          </a:solidFill>
          <a:ln/>
        </p:spPr>
      </p:sp>
      <p:pic>
        <p:nvPicPr>
          <p:cNvPr id="21" name="Image 3" descr="/home/claude/jali_pptx/icons/users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61404" y="4558284"/>
            <a:ext cx="256032" cy="25603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178040" y="4416552"/>
            <a:ext cx="4251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B24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&amp; Collaboration</a:t>
            </a:r>
            <a:endParaRPr lang="en-US" sz="1650" dirty="0"/>
          </a:p>
        </p:txBody>
      </p:sp>
      <p:sp>
        <p:nvSpPr>
          <p:cNvPr id="23" name="Text 17"/>
          <p:cNvSpPr/>
          <p:nvPr/>
        </p:nvSpPr>
        <p:spPr>
          <a:xfrm>
            <a:off x="6583680" y="5074920"/>
            <a:ext cx="47091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lnSpc>
                <a:spcPct val="125000"/>
              </a:lnSpc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26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pitching</a:t>
            </a:r>
            <a:endParaRPr lang="en-US" sz="1250" dirty="0"/>
          </a:p>
          <a:p>
            <a:pPr marL="177800" indent="-177800">
              <a:lnSpc>
                <a:spcPct val="125000"/>
              </a:lnSpc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26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 presentations</a:t>
            </a:r>
            <a:endParaRPr lang="en-US" sz="1250" dirty="0"/>
          </a:p>
          <a:p>
            <a:pPr marL="177800" indent="-177800">
              <a:lnSpc>
                <a:spcPct val="125000"/>
              </a:lnSpc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26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Excel reporting</a:t>
            </a:r>
            <a:endParaRPr lang="en-US" sz="1250" dirty="0"/>
          </a:p>
          <a:p>
            <a:pPr marL="177800" indent="-177800">
              <a:lnSpc>
                <a:spcPct val="125000"/>
              </a:lnSpc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26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Cross-functional teamwork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9BC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245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4206240"/>
            <a:ext cx="4114800" cy="4114800"/>
          </a:xfrm>
          <a:prstGeom prst="ellipse">
            <a:avLst/>
          </a:prstGeom>
          <a:solidFill>
            <a:srgbClr val="2F3C7E">
              <a:alpha val="5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STRENGTHS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 strengths I lead with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691640"/>
            <a:ext cx="3566160" cy="1417320"/>
          </a:xfrm>
          <a:prstGeom prst="roundRect">
            <a:avLst>
              <a:gd name="adj" fmla="val 5161"/>
            </a:avLst>
          </a:prstGeom>
          <a:solidFill>
            <a:srgbClr val="2F3C7E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856232"/>
            <a:ext cx="1188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896112" y="2587752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Initiative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4526280" y="1691640"/>
            <a:ext cx="3566160" cy="1417320"/>
          </a:xfrm>
          <a:prstGeom prst="roundRect">
            <a:avLst>
              <a:gd name="adj" fmla="val 5161"/>
            </a:avLst>
          </a:prstGeom>
          <a:solidFill>
            <a:srgbClr val="2F3C7E"/>
          </a:solidFill>
          <a:ln/>
        </p:spPr>
      </p:sp>
      <p:sp>
        <p:nvSpPr>
          <p:cNvPr id="9" name="Text 7"/>
          <p:cNvSpPr/>
          <p:nvPr/>
        </p:nvSpPr>
        <p:spPr>
          <a:xfrm>
            <a:off x="4754880" y="1856232"/>
            <a:ext cx="1188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4782312" y="2587752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communication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8412480" y="1691640"/>
            <a:ext cx="3566160" cy="1417320"/>
          </a:xfrm>
          <a:prstGeom prst="roundRect">
            <a:avLst>
              <a:gd name="adj" fmla="val 5161"/>
            </a:avLst>
          </a:prstGeom>
          <a:solidFill>
            <a:srgbClr val="2F3C7E"/>
          </a:solidFill>
          <a:ln/>
        </p:spPr>
      </p:sp>
      <p:sp>
        <p:nvSpPr>
          <p:cNvPr id="12" name="Text 10"/>
          <p:cNvSpPr/>
          <p:nvPr/>
        </p:nvSpPr>
        <p:spPr>
          <a:xfrm>
            <a:off x="8641080" y="1856232"/>
            <a:ext cx="1188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8668512" y="2587752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Creative thinking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640080" y="3383280"/>
            <a:ext cx="3566160" cy="1417320"/>
          </a:xfrm>
          <a:prstGeom prst="roundRect">
            <a:avLst>
              <a:gd name="adj" fmla="val 5161"/>
            </a:avLst>
          </a:prstGeom>
          <a:solidFill>
            <a:srgbClr val="2F3C7E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" y="3547872"/>
            <a:ext cx="1188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896112" y="4279392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Adaptability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4526280" y="3383280"/>
            <a:ext cx="3566160" cy="1417320"/>
          </a:xfrm>
          <a:prstGeom prst="roundRect">
            <a:avLst>
              <a:gd name="adj" fmla="val 5161"/>
            </a:avLst>
          </a:prstGeom>
          <a:solidFill>
            <a:srgbClr val="2F3C7E"/>
          </a:solidFill>
          <a:ln/>
        </p:spPr>
      </p:sp>
      <p:sp>
        <p:nvSpPr>
          <p:cNvPr id="18" name="Text 16"/>
          <p:cNvSpPr/>
          <p:nvPr/>
        </p:nvSpPr>
        <p:spPr>
          <a:xfrm>
            <a:off x="4754880" y="3547872"/>
            <a:ext cx="1188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3400" dirty="0"/>
          </a:p>
        </p:txBody>
      </p:sp>
      <p:sp>
        <p:nvSpPr>
          <p:cNvPr id="19" name="Text 17"/>
          <p:cNvSpPr/>
          <p:nvPr/>
        </p:nvSpPr>
        <p:spPr>
          <a:xfrm>
            <a:off x="4782312" y="4279392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Organisation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8412480" y="3383280"/>
            <a:ext cx="3566160" cy="1417320"/>
          </a:xfrm>
          <a:prstGeom prst="roundRect">
            <a:avLst>
              <a:gd name="adj" fmla="val 5161"/>
            </a:avLst>
          </a:prstGeom>
          <a:solidFill>
            <a:srgbClr val="2F3C7E"/>
          </a:solidFill>
          <a:ln/>
        </p:spPr>
      </p:sp>
      <p:sp>
        <p:nvSpPr>
          <p:cNvPr id="21" name="Text 19"/>
          <p:cNvSpPr/>
          <p:nvPr/>
        </p:nvSpPr>
        <p:spPr>
          <a:xfrm>
            <a:off x="8641080" y="3547872"/>
            <a:ext cx="1188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3400" dirty="0"/>
          </a:p>
        </p:txBody>
      </p:sp>
      <p:sp>
        <p:nvSpPr>
          <p:cNvPr id="22" name="Text 20"/>
          <p:cNvSpPr/>
          <p:nvPr/>
        </p:nvSpPr>
        <p:spPr>
          <a:xfrm>
            <a:off x="8668512" y="4279392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Collaboration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640080" y="5257800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i="1" dirty="0">
                <a:solidFill>
                  <a:srgbClr val="CF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enjoy connecting customer needs with clear business goals, then working with others to turn insight into practical action.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B9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 WORK · FEATURED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4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School2gether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353312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EdTech start-up  ·  Project Manager &amp; Co-Founder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6400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26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South African education technology platform connecting learners, tutors, and parents.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40080" y="2788920"/>
            <a:ext cx="1517904" cy="384048"/>
          </a:xfrm>
          <a:prstGeom prst="roundRect">
            <a:avLst>
              <a:gd name="adj" fmla="val 50000"/>
            </a:avLst>
          </a:prstGeom>
          <a:solidFill>
            <a:srgbClr val="F7F7F9"/>
          </a:solidFill>
          <a:ln w="12700">
            <a:solidFill>
              <a:srgbClr val="D9DA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788920"/>
            <a:ext cx="151790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research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322576" y="2788920"/>
            <a:ext cx="1781251" cy="384048"/>
          </a:xfrm>
          <a:prstGeom prst="roundRect">
            <a:avLst>
              <a:gd name="adj" fmla="val 50000"/>
            </a:avLst>
          </a:prstGeom>
          <a:solidFill>
            <a:srgbClr val="F7F7F9"/>
          </a:solidFill>
          <a:ln w="12700">
            <a:solidFill>
              <a:srgbClr val="D9DA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322576" y="2788920"/>
            <a:ext cx="1781251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Product-market fit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268419" y="2788920"/>
            <a:ext cx="2044598" cy="384048"/>
          </a:xfrm>
          <a:prstGeom prst="roundRect">
            <a:avLst>
              <a:gd name="adj" fmla="val 50000"/>
            </a:avLst>
          </a:prstGeom>
          <a:solidFill>
            <a:srgbClr val="F7F7F9"/>
          </a:solidFill>
          <a:ln w="12700">
            <a:solidFill>
              <a:srgbClr val="D9DA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68419" y="2788920"/>
            <a:ext cx="204459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Go-to-market strategy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0080" y="3264408"/>
            <a:ext cx="1430122" cy="384048"/>
          </a:xfrm>
          <a:prstGeom prst="roundRect">
            <a:avLst>
              <a:gd name="adj" fmla="val 50000"/>
            </a:avLst>
          </a:prstGeom>
          <a:solidFill>
            <a:srgbClr val="F7F7F9"/>
          </a:solidFill>
          <a:ln w="12700">
            <a:solidFill>
              <a:srgbClr val="D9DA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3264408"/>
            <a:ext cx="143012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 pitch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360920" y="777240"/>
            <a:ext cx="4160520" cy="5349240"/>
          </a:xfrm>
          <a:prstGeom prst="roundRect">
            <a:avLst>
              <a:gd name="adj" fmla="val 2198"/>
            </a:avLst>
          </a:prstGeom>
          <a:solidFill>
            <a:srgbClr val="1B2456"/>
          </a:solidFill>
          <a:ln/>
        </p:spPr>
      </p:sp>
      <p:sp>
        <p:nvSpPr>
          <p:cNvPr id="15" name="Shape 13"/>
          <p:cNvSpPr/>
          <p:nvPr/>
        </p:nvSpPr>
        <p:spPr>
          <a:xfrm>
            <a:off x="8778240" y="1097280"/>
            <a:ext cx="1280160" cy="1280160"/>
          </a:xfrm>
          <a:prstGeom prst="ellipse">
            <a:avLst/>
          </a:prstGeom>
          <a:solidFill>
            <a:srgbClr val="2F3C7E"/>
          </a:solidFill>
          <a:ln/>
        </p:spPr>
      </p:sp>
      <p:pic>
        <p:nvPicPr>
          <p:cNvPr id="16" name="Image 0" descr="/home/claude/jali_pptx/icons/layers_F9E79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1463040"/>
            <a:ext cx="548640" cy="548640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7680960" y="26517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 did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7680960" y="3017520"/>
            <a:ext cx="365760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E6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Conducted market research and competitor analysis across the South African EdTech sector</a:t>
            </a:r>
            <a:endParaRPr lang="en-US" sz="1200" dirty="0"/>
          </a:p>
          <a:p>
            <a:pPr marL="177800" indent="-1778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E6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Developed the marketing strategy — objectives, target segments, pricing, and promotions</a:t>
            </a:r>
            <a:endParaRPr lang="en-US" sz="1200" dirty="0"/>
          </a:p>
          <a:p>
            <a:pPr marL="177800" indent="-1778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E6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the app concept, UX flows, and functional framework with accessibility as a core principle</a:t>
            </a:r>
            <a:endParaRPr lang="en-US" sz="1200" dirty="0"/>
          </a:p>
          <a:p>
            <a:pPr marL="177800" indent="-1778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E6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Pitched the business to potential investors and education sector partners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640080" y="3794760"/>
            <a:ext cx="6035040" cy="1920240"/>
          </a:xfrm>
          <a:prstGeom prst="roundRect">
            <a:avLst>
              <a:gd name="adj" fmla="val 4286"/>
            </a:avLst>
          </a:prstGeom>
          <a:solidFill>
            <a:srgbClr val="F7F7F9"/>
          </a:solidFill>
          <a:ln/>
        </p:spPr>
      </p:sp>
      <p:pic>
        <p:nvPicPr>
          <p:cNvPr id="20" name="Image 1" descr="/home/claude/jali_pptx/icons/compass_F9616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4005072"/>
            <a:ext cx="310896" cy="310896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1280160" y="4005072"/>
            <a:ext cx="5120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4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350" dirty="0"/>
          </a:p>
        </p:txBody>
      </p:sp>
      <p:sp>
        <p:nvSpPr>
          <p:cNvPr id="22" name="Text 18"/>
          <p:cNvSpPr/>
          <p:nvPr/>
        </p:nvSpPr>
        <p:spPr>
          <a:xfrm>
            <a:off x="868680" y="4434840"/>
            <a:ext cx="5577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26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School2gether shows the full arc of a marketer's job, spotting a gap through research, shaping a go-to-market plan, and selling the vision to real stakeholders. It is the clearest proof point of how I turn insight into action.</a:t>
            </a:r>
            <a:endParaRPr lang="en-US" sz="1250" dirty="0"/>
          </a:p>
        </p:txBody>
      </p:sp>
      <p:sp>
        <p:nvSpPr>
          <p:cNvPr id="23" name="Text 19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9BC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 WORK · FEATURED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4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Konnect Marketing Plan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335024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marketing project  ·  Go-to-market strategy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40080" y="1828800"/>
            <a:ext cx="108813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26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complete go-to-market strategy for a fictional hyperlocal services app connecting Johannesburg residents with vetted local service providers — plumbers, tutors, and cleaners. The plan demonstrates practical marketing planning end to end, from opportunity through a 12-month execution timeline.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08076" y="3063240"/>
            <a:ext cx="2084832" cy="2514600"/>
          </a:xfrm>
          <a:prstGeom prst="roundRect">
            <a:avLst>
              <a:gd name="adj" fmla="val 3509"/>
            </a:avLst>
          </a:prstGeom>
          <a:solidFill>
            <a:srgbClr val="1B2456"/>
          </a:solidFill>
          <a:ln/>
        </p:spPr>
      </p:sp>
      <p:sp>
        <p:nvSpPr>
          <p:cNvPr id="7" name="Shape 5"/>
          <p:cNvSpPr/>
          <p:nvPr/>
        </p:nvSpPr>
        <p:spPr>
          <a:xfrm>
            <a:off x="1357884" y="3337560"/>
            <a:ext cx="585216" cy="585216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8" name="Image 0" descr="/home/claude/jali_pptx/icons/search_1B245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5900" y="3465576"/>
            <a:ext cx="329184" cy="32918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45236" y="4160520"/>
            <a:ext cx="1810512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&amp; competitor analysis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2189988" y="51206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F9E7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2711196" y="4320540"/>
            <a:ext cx="100584" cy="0"/>
          </a:xfrm>
          <a:prstGeom prst="line">
            <a:avLst/>
          </a:prstGeom>
          <a:noFill/>
          <a:ln w="25400">
            <a:solidFill>
              <a:srgbClr val="C7CAE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830068" y="3063240"/>
            <a:ext cx="2084832" cy="2514600"/>
          </a:xfrm>
          <a:prstGeom prst="roundRect">
            <a:avLst>
              <a:gd name="adj" fmla="val 3509"/>
            </a:avLst>
          </a:prstGeom>
          <a:solidFill>
            <a:srgbClr val="2F3C7E"/>
          </a:solidFill>
          <a:ln/>
        </p:spPr>
      </p:sp>
      <p:sp>
        <p:nvSpPr>
          <p:cNvPr id="13" name="Shape 10"/>
          <p:cNvSpPr/>
          <p:nvPr/>
        </p:nvSpPr>
        <p:spPr>
          <a:xfrm>
            <a:off x="3579876" y="3337560"/>
            <a:ext cx="585216" cy="585216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4" name="Image 1" descr="/home/claude/jali_pptx/icons/target_1B245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07892" y="3465576"/>
            <a:ext cx="329184" cy="32918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2967228" y="4160520"/>
            <a:ext cx="1810512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Audience segmentation</a:t>
            </a:r>
            <a:endParaRPr lang="en-US" sz="1250" dirty="0"/>
          </a:p>
        </p:txBody>
      </p:sp>
      <p:sp>
        <p:nvSpPr>
          <p:cNvPr id="16" name="Text 12"/>
          <p:cNvSpPr/>
          <p:nvPr/>
        </p:nvSpPr>
        <p:spPr>
          <a:xfrm>
            <a:off x="4411980" y="51206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F9E7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7" name="Shape 13"/>
          <p:cNvSpPr/>
          <p:nvPr/>
        </p:nvSpPr>
        <p:spPr>
          <a:xfrm>
            <a:off x="4933188" y="4320540"/>
            <a:ext cx="100584" cy="0"/>
          </a:xfrm>
          <a:prstGeom prst="line">
            <a:avLst/>
          </a:prstGeom>
          <a:noFill/>
          <a:ln w="25400">
            <a:solidFill>
              <a:srgbClr val="C7CAE0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5052060" y="3063240"/>
            <a:ext cx="2084832" cy="2514600"/>
          </a:xfrm>
          <a:prstGeom prst="roundRect">
            <a:avLst>
              <a:gd name="adj" fmla="val 3509"/>
            </a:avLst>
          </a:prstGeom>
          <a:solidFill>
            <a:srgbClr val="1B2456"/>
          </a:solidFill>
          <a:ln/>
        </p:spPr>
      </p:sp>
      <p:sp>
        <p:nvSpPr>
          <p:cNvPr id="19" name="Shape 15"/>
          <p:cNvSpPr/>
          <p:nvPr/>
        </p:nvSpPr>
        <p:spPr>
          <a:xfrm>
            <a:off x="5801868" y="3337560"/>
            <a:ext cx="585216" cy="585216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0" name="Image 2" descr="/home/claude/jali_pptx/icons/layers_1B245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29884" y="3465576"/>
            <a:ext cx="329184" cy="329184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5189220" y="4160520"/>
            <a:ext cx="1810512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mix</a:t>
            </a:r>
            <a:endParaRPr lang="en-US" sz="1250" dirty="0"/>
          </a:p>
        </p:txBody>
      </p:sp>
      <p:sp>
        <p:nvSpPr>
          <p:cNvPr id="22" name="Text 17"/>
          <p:cNvSpPr/>
          <p:nvPr/>
        </p:nvSpPr>
        <p:spPr>
          <a:xfrm>
            <a:off x="6633972" y="51206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F9E7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23" name="Shape 18"/>
          <p:cNvSpPr/>
          <p:nvPr/>
        </p:nvSpPr>
        <p:spPr>
          <a:xfrm>
            <a:off x="7155180" y="4320540"/>
            <a:ext cx="100584" cy="0"/>
          </a:xfrm>
          <a:prstGeom prst="line">
            <a:avLst/>
          </a:prstGeom>
          <a:noFill/>
          <a:ln w="25400">
            <a:solidFill>
              <a:srgbClr val="C7CAE0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7274052" y="3063240"/>
            <a:ext cx="2084832" cy="2514600"/>
          </a:xfrm>
          <a:prstGeom prst="roundRect">
            <a:avLst>
              <a:gd name="adj" fmla="val 3509"/>
            </a:avLst>
          </a:prstGeom>
          <a:solidFill>
            <a:srgbClr val="2F3C7E"/>
          </a:solidFill>
          <a:ln/>
        </p:spPr>
      </p:sp>
      <p:sp>
        <p:nvSpPr>
          <p:cNvPr id="25" name="Shape 20"/>
          <p:cNvSpPr/>
          <p:nvPr/>
        </p:nvSpPr>
        <p:spPr>
          <a:xfrm>
            <a:off x="8023860" y="3337560"/>
            <a:ext cx="585216" cy="585216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6" name="Image 3" descr="/home/claude/jali_pptx/icons/trendingup_1B245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51876" y="3465576"/>
            <a:ext cx="329184" cy="329184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7411212" y="4160520"/>
            <a:ext cx="1810512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channel strategy</a:t>
            </a:r>
            <a:endParaRPr lang="en-US" sz="1250" dirty="0"/>
          </a:p>
        </p:txBody>
      </p:sp>
      <p:sp>
        <p:nvSpPr>
          <p:cNvPr id="28" name="Text 22"/>
          <p:cNvSpPr/>
          <p:nvPr/>
        </p:nvSpPr>
        <p:spPr>
          <a:xfrm>
            <a:off x="8855964" y="51206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F9E7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9" name="Shape 23"/>
          <p:cNvSpPr/>
          <p:nvPr/>
        </p:nvSpPr>
        <p:spPr>
          <a:xfrm>
            <a:off x="9377172" y="4320540"/>
            <a:ext cx="100584" cy="0"/>
          </a:xfrm>
          <a:prstGeom prst="line">
            <a:avLst/>
          </a:prstGeom>
          <a:noFill/>
          <a:ln w="25400">
            <a:solidFill>
              <a:srgbClr val="C7CAE0"/>
            </a:solidFill>
            <a:prstDash val="solid"/>
          </a:ln>
        </p:spPr>
      </p:sp>
      <p:sp>
        <p:nvSpPr>
          <p:cNvPr id="30" name="Shape 24"/>
          <p:cNvSpPr/>
          <p:nvPr/>
        </p:nvSpPr>
        <p:spPr>
          <a:xfrm>
            <a:off x="9496044" y="3063240"/>
            <a:ext cx="2084832" cy="2514600"/>
          </a:xfrm>
          <a:prstGeom prst="roundRect">
            <a:avLst>
              <a:gd name="adj" fmla="val 3509"/>
            </a:avLst>
          </a:prstGeom>
          <a:solidFill>
            <a:srgbClr val="1B2456"/>
          </a:solidFill>
          <a:ln/>
        </p:spPr>
      </p:sp>
      <p:sp>
        <p:nvSpPr>
          <p:cNvPr id="31" name="Shape 25"/>
          <p:cNvSpPr/>
          <p:nvPr/>
        </p:nvSpPr>
        <p:spPr>
          <a:xfrm>
            <a:off x="10245852" y="3337560"/>
            <a:ext cx="585216" cy="585216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2" name="Image 4" descr="/home/claude/jali_pptx/icons/clipboard_1B2456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73868" y="3465576"/>
            <a:ext cx="329184" cy="329184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9633204" y="4160520"/>
            <a:ext cx="1810512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Budgeting &amp; KPIs</a:t>
            </a:r>
            <a:endParaRPr lang="en-US" sz="1250" dirty="0"/>
          </a:p>
        </p:txBody>
      </p:sp>
      <p:sp>
        <p:nvSpPr>
          <p:cNvPr id="34" name="Text 27"/>
          <p:cNvSpPr/>
          <p:nvPr/>
        </p:nvSpPr>
        <p:spPr>
          <a:xfrm>
            <a:off x="11077956" y="51206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F9E7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35" name="Text 28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9BC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 WORK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4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Frontline experience that shaped my instincts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394960" cy="41148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E4E5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0120" y="2011680"/>
            <a:ext cx="594360" cy="594360"/>
          </a:xfrm>
          <a:prstGeom prst="ellipse">
            <a:avLst/>
          </a:prstGeom>
          <a:solidFill>
            <a:srgbClr val="1B2456"/>
          </a:solidFill>
          <a:ln/>
        </p:spPr>
      </p:sp>
      <p:pic>
        <p:nvPicPr>
          <p:cNvPr id="6" name="Image 0" descr="/home/claude/jali_pptx/icons/shoppingbag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2148840"/>
            <a:ext cx="32004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37360" y="201168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B24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product placement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1737360" y="237744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Shoprite P.F.M · Merchandiser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005840" y="2926080"/>
            <a:ext cx="4663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6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In-store product displays designed to improve shelf visibility and support category sales.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1005840" y="4114800"/>
            <a:ext cx="1247242" cy="365760"/>
          </a:xfrm>
          <a:prstGeom prst="roundRect">
            <a:avLst>
              <a:gd name="adj" fmla="val 50000"/>
            </a:avLst>
          </a:prstGeom>
          <a:solidFill>
            <a:srgbClr val="F7F7F9"/>
          </a:solidFill>
          <a:ln w="12700">
            <a:solidFill>
              <a:srgbClr val="D9DAE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05840" y="4114800"/>
            <a:ext cx="124724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Merchandising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2390242" y="4114800"/>
            <a:ext cx="1649578" cy="365760"/>
          </a:xfrm>
          <a:prstGeom prst="roundRect">
            <a:avLst>
              <a:gd name="adj" fmla="val 50000"/>
            </a:avLst>
          </a:prstGeom>
          <a:solidFill>
            <a:srgbClr val="F7F7F9"/>
          </a:solidFill>
          <a:ln w="12700">
            <a:solidFill>
              <a:srgbClr val="D9DAE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390242" y="4114800"/>
            <a:ext cx="164957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 behaviour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1005840" y="4572000"/>
            <a:ext cx="1971446" cy="365760"/>
          </a:xfrm>
          <a:prstGeom prst="roundRect">
            <a:avLst>
              <a:gd name="adj" fmla="val 50000"/>
            </a:avLst>
          </a:prstGeom>
          <a:solidFill>
            <a:srgbClr val="F7F7F9"/>
          </a:solidFill>
          <a:ln w="12700">
            <a:solidFill>
              <a:srgbClr val="D9DAE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005840" y="4572000"/>
            <a:ext cx="197144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collaboration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3114446" y="4572000"/>
            <a:ext cx="1649578" cy="365760"/>
          </a:xfrm>
          <a:prstGeom prst="roundRect">
            <a:avLst>
              <a:gd name="adj" fmla="val 50000"/>
            </a:avLst>
          </a:prstGeom>
          <a:solidFill>
            <a:srgbClr val="F7F7F9"/>
          </a:solidFill>
          <a:ln w="12700">
            <a:solidFill>
              <a:srgbClr val="D9DAE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114446" y="4572000"/>
            <a:ext cx="164957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presentation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6355080" y="1691640"/>
            <a:ext cx="5394960" cy="41148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E4E5EE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675120" y="2011680"/>
            <a:ext cx="594360" cy="594360"/>
          </a:xfrm>
          <a:prstGeom prst="ellipse">
            <a:avLst/>
          </a:prstGeom>
          <a:solidFill>
            <a:srgbClr val="1B2456"/>
          </a:solidFill>
          <a:ln/>
        </p:spPr>
      </p:sp>
      <p:pic>
        <p:nvPicPr>
          <p:cNvPr id="20" name="Image 1" descr="/home/claude/jali_pptx/icons/briefcase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12280" y="2148840"/>
            <a:ext cx="320040" cy="320040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7452360" y="201168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B24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Bookings operations</a:t>
            </a:r>
            <a:endParaRPr lang="en-US" sz="1650" dirty="0"/>
          </a:p>
        </p:txBody>
      </p:sp>
      <p:sp>
        <p:nvSpPr>
          <p:cNvPr id="22" name="Text 18"/>
          <p:cNvSpPr/>
          <p:nvPr/>
        </p:nvSpPr>
        <p:spPr>
          <a:xfrm>
            <a:off x="7452360" y="237744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RSA Group · Booking Clerk</a:t>
            </a:r>
            <a:endParaRPr lang="en-US" sz="1200" dirty="0"/>
          </a:p>
        </p:txBody>
      </p:sp>
      <p:sp>
        <p:nvSpPr>
          <p:cNvPr id="23" name="Text 19"/>
          <p:cNvSpPr/>
          <p:nvPr/>
        </p:nvSpPr>
        <p:spPr>
          <a:xfrm>
            <a:off x="6720840" y="2926080"/>
            <a:ext cx="4663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6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Customer-facing booking administration with accurate records, payments, confirmations, and issue resolution.</a:t>
            </a:r>
            <a:endParaRPr lang="en-US" sz="1300" dirty="0"/>
          </a:p>
        </p:txBody>
      </p:sp>
      <p:sp>
        <p:nvSpPr>
          <p:cNvPr id="24" name="Shape 20"/>
          <p:cNvSpPr/>
          <p:nvPr/>
        </p:nvSpPr>
        <p:spPr>
          <a:xfrm>
            <a:off x="6720840" y="4114800"/>
            <a:ext cx="1488643" cy="365760"/>
          </a:xfrm>
          <a:prstGeom prst="roundRect">
            <a:avLst>
              <a:gd name="adj" fmla="val 50000"/>
            </a:avLst>
          </a:prstGeom>
          <a:solidFill>
            <a:srgbClr val="F7F7F9"/>
          </a:solidFill>
          <a:ln w="12700">
            <a:solidFill>
              <a:srgbClr val="D9DAE8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6720840" y="4114800"/>
            <a:ext cx="1488643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service</a:t>
            </a:r>
            <a:endParaRPr lang="en-US" sz="1050" dirty="0"/>
          </a:p>
        </p:txBody>
      </p:sp>
      <p:sp>
        <p:nvSpPr>
          <p:cNvPr id="26" name="Shape 22"/>
          <p:cNvSpPr/>
          <p:nvPr/>
        </p:nvSpPr>
        <p:spPr>
          <a:xfrm>
            <a:off x="8346643" y="4114800"/>
            <a:ext cx="1649578" cy="365760"/>
          </a:xfrm>
          <a:prstGeom prst="roundRect">
            <a:avLst>
              <a:gd name="adj" fmla="val 50000"/>
            </a:avLst>
          </a:prstGeom>
          <a:solidFill>
            <a:srgbClr val="F7F7F9"/>
          </a:solidFill>
          <a:ln w="12700">
            <a:solidFill>
              <a:srgbClr val="D9DAE8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8346643" y="4114800"/>
            <a:ext cx="164957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management</a:t>
            </a:r>
            <a:endParaRPr lang="en-US" sz="1050" dirty="0"/>
          </a:p>
        </p:txBody>
      </p:sp>
      <p:sp>
        <p:nvSpPr>
          <p:cNvPr id="28" name="Shape 24"/>
          <p:cNvSpPr/>
          <p:nvPr/>
        </p:nvSpPr>
        <p:spPr>
          <a:xfrm>
            <a:off x="6720840" y="4572000"/>
            <a:ext cx="1408176" cy="365760"/>
          </a:xfrm>
          <a:prstGeom prst="roundRect">
            <a:avLst>
              <a:gd name="adj" fmla="val 50000"/>
            </a:avLst>
          </a:prstGeom>
          <a:solidFill>
            <a:srgbClr val="F7F7F9"/>
          </a:solidFill>
          <a:ln w="12700">
            <a:solidFill>
              <a:srgbClr val="D9DAE8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6720840" y="4572000"/>
            <a:ext cx="14081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records</a:t>
            </a:r>
            <a:endParaRPr lang="en-US" sz="1050" dirty="0"/>
          </a:p>
        </p:txBody>
      </p:sp>
      <p:sp>
        <p:nvSpPr>
          <p:cNvPr id="30" name="Shape 26"/>
          <p:cNvSpPr/>
          <p:nvPr/>
        </p:nvSpPr>
        <p:spPr>
          <a:xfrm>
            <a:off x="8266176" y="4572000"/>
            <a:ext cx="1408176" cy="365760"/>
          </a:xfrm>
          <a:prstGeom prst="roundRect">
            <a:avLst>
              <a:gd name="adj" fmla="val 50000"/>
            </a:avLst>
          </a:prstGeom>
          <a:solidFill>
            <a:srgbClr val="F7F7F9"/>
          </a:solidFill>
          <a:ln w="12700">
            <a:solidFill>
              <a:srgbClr val="D9DAE8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8266176" y="4572000"/>
            <a:ext cx="14081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solving</a:t>
            </a:r>
            <a:endParaRPr lang="en-US" sz="1050" dirty="0"/>
          </a:p>
        </p:txBody>
      </p:sp>
      <p:sp>
        <p:nvSpPr>
          <p:cNvPr id="32" name="Text 28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9BC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EXPERIENCE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4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I have contributed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35331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6B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Marketing, retail, EdTech, and customer operations experience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868680" y="1965960"/>
            <a:ext cx="0" cy="4389120"/>
          </a:xfrm>
          <a:prstGeom prst="line">
            <a:avLst/>
          </a:prstGeom>
          <a:noFill/>
          <a:ln w="25400">
            <a:solidFill>
              <a:srgbClr val="D9DA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68096" y="2002536"/>
            <a:ext cx="201168" cy="201168"/>
          </a:xfrm>
          <a:prstGeom prst="ellipse">
            <a:avLst/>
          </a:prstGeom>
          <a:solidFill>
            <a:srgbClr val="F96167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71600" y="19202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4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Manager &amp; Co-Founder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371600" y="2231136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School2gether  ·  EdTech project · 1 Year Contract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1371600" y="2523744"/>
            <a:ext cx="5120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26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Conceptualised and led the development of a South African education technology platform connecting learners, tutors, and parents.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6858000" y="1965960"/>
            <a:ext cx="46634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125000"/>
              </a:lnSpc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26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research</a:t>
            </a:r>
            <a:endParaRPr lang="en-US" sz="1150" dirty="0"/>
          </a:p>
          <a:p>
            <a:pPr marL="152400" indent="-152400">
              <a:lnSpc>
                <a:spcPct val="125000"/>
              </a:lnSpc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26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 planning</a:t>
            </a:r>
            <a:endParaRPr lang="en-US" sz="1150" dirty="0"/>
          </a:p>
          <a:p>
            <a:pPr marL="152400" indent="-152400">
              <a:lnSpc>
                <a:spcPct val="125000"/>
              </a:lnSpc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26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strategy</a:t>
            </a:r>
            <a:endParaRPr lang="en-US" sz="1150" dirty="0"/>
          </a:p>
          <a:p>
            <a:pPr marL="152400" indent="-152400">
              <a:lnSpc>
                <a:spcPct val="125000"/>
              </a:lnSpc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26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 presentations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768096" y="3465576"/>
            <a:ext cx="201168" cy="201168"/>
          </a:xfrm>
          <a:prstGeom prst="ellipse">
            <a:avLst/>
          </a:prstGeom>
          <a:solidFill>
            <a:srgbClr val="F96167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371600" y="33832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4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Merchandiser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371600" y="3694176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Shoprite P.F.M  ·  Retail marketing · 1 Year Contract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1371600" y="3986784"/>
            <a:ext cx="5120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26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Supported in-store product visibility and category presentation through merchandising and cross-functional collaboration.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858000" y="3429000"/>
            <a:ext cx="46634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125000"/>
              </a:lnSpc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26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merchandising</a:t>
            </a:r>
            <a:endParaRPr lang="en-US" sz="1150" dirty="0"/>
          </a:p>
          <a:p>
            <a:pPr marL="152400" indent="-152400">
              <a:lnSpc>
                <a:spcPct val="125000"/>
              </a:lnSpc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26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placement</a:t>
            </a:r>
            <a:endParaRPr lang="en-US" sz="1150" dirty="0"/>
          </a:p>
          <a:p>
            <a:pPr marL="152400" indent="-152400">
              <a:lnSpc>
                <a:spcPct val="125000"/>
              </a:lnSpc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26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 insight</a:t>
            </a:r>
            <a:endParaRPr lang="en-US" sz="1150" dirty="0"/>
          </a:p>
          <a:p>
            <a:pPr marL="152400" indent="-152400">
              <a:lnSpc>
                <a:spcPct val="125000"/>
              </a:lnSpc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26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collaboration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768096" y="4928616"/>
            <a:ext cx="201168" cy="201168"/>
          </a:xfrm>
          <a:prstGeom prst="ellipse">
            <a:avLst/>
          </a:prstGeom>
          <a:solidFill>
            <a:srgbClr val="F96167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371600" y="48463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4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Clerk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371600" y="5157216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RSA Group  ·  Customer operations · 2 Years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1371600" y="5449824"/>
            <a:ext cx="5120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26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booking administration and customer queries while maintaining accurate digital and paper records.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858000" y="4892040"/>
            <a:ext cx="46634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125000"/>
              </a:lnSpc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26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service</a:t>
            </a:r>
            <a:endParaRPr lang="en-US" sz="1150" dirty="0"/>
          </a:p>
          <a:p>
            <a:pPr marL="152400" indent="-152400">
              <a:lnSpc>
                <a:spcPct val="125000"/>
              </a:lnSpc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26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management</a:t>
            </a:r>
            <a:endParaRPr lang="en-US" sz="1150" dirty="0"/>
          </a:p>
          <a:p>
            <a:pPr marL="152400" indent="-152400">
              <a:lnSpc>
                <a:spcPct val="125000"/>
              </a:lnSpc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26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administration</a:t>
            </a:r>
            <a:endParaRPr lang="en-US" sz="1150" dirty="0"/>
          </a:p>
          <a:p>
            <a:pPr marL="152400" indent="-152400">
              <a:lnSpc>
                <a:spcPct val="125000"/>
              </a:lnSpc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26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solving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9BC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 &amp; CERTIFICATIONS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4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Background and credentials</a:t>
            </a:r>
            <a:endParaRPr lang="en-US" sz="3000" dirty="0"/>
          </a:p>
        </p:txBody>
      </p:sp>
      <p:pic>
        <p:nvPicPr>
          <p:cNvPr id="4" name="Image 0" descr="/home/claude/jali_pptx/icons/bookopen_2F3C7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554480"/>
            <a:ext cx="292608" cy="29260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24128" y="1536192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4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640080" y="2011680"/>
            <a:ext cx="548640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4E5E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14400" y="2176272"/>
            <a:ext cx="4937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4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BCom Marketing Management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914400" y="2487168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of Johannesburg  ·  Completed 2025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914400" y="2816352"/>
            <a:ext cx="4937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80" dirty="0">
                <a:solidFill>
                  <a:srgbClr val="26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Management · Business Management · Logistics Management · Financial Management · Accounting · Economics</a:t>
            </a:r>
            <a:endParaRPr lang="en-US" sz="1080" dirty="0"/>
          </a:p>
        </p:txBody>
      </p:sp>
      <p:sp>
        <p:nvSpPr>
          <p:cNvPr id="10" name="Shape 7"/>
          <p:cNvSpPr/>
          <p:nvPr/>
        </p:nvSpPr>
        <p:spPr>
          <a:xfrm>
            <a:off x="640080" y="3886200"/>
            <a:ext cx="548640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4E5E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14400" y="4050792"/>
            <a:ext cx="4937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4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Senior Certificate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914400" y="4361688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Thaba Jabula Secondary School  ·  Completed 2022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914400" y="4690872"/>
            <a:ext cx="4937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80" dirty="0">
                <a:solidFill>
                  <a:srgbClr val="26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Mathematics · Geography · Physical &amp; Life Sciences · English (FAL) · IsiXhosa (HL) · Life Orientation</a:t>
            </a:r>
            <a:endParaRPr lang="en-US" sz="1080" dirty="0"/>
          </a:p>
        </p:txBody>
      </p:sp>
      <p:pic>
        <p:nvPicPr>
          <p:cNvPr id="14" name="Image 1" descr="/home/claude/jali_pptx/icons/award_2F3C7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6520" y="1554480"/>
            <a:ext cx="292608" cy="29260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6830568" y="1536192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4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Certifications</a:t>
            </a:r>
            <a:endParaRPr lang="en-US" sz="1600" dirty="0"/>
          </a:p>
        </p:txBody>
      </p:sp>
      <p:sp>
        <p:nvSpPr>
          <p:cNvPr id="16" name="Shape 12"/>
          <p:cNvSpPr/>
          <p:nvPr/>
        </p:nvSpPr>
        <p:spPr>
          <a:xfrm>
            <a:off x="6446520" y="2011680"/>
            <a:ext cx="5120640" cy="1005840"/>
          </a:xfrm>
          <a:prstGeom prst="roundRect">
            <a:avLst>
              <a:gd name="adj" fmla="val 7273"/>
            </a:avLst>
          </a:prstGeom>
          <a:solidFill>
            <a:srgbClr val="1B2456"/>
          </a:solidFill>
          <a:ln/>
        </p:spPr>
      </p:sp>
      <p:sp>
        <p:nvSpPr>
          <p:cNvPr id="17" name="Text 13"/>
          <p:cNvSpPr/>
          <p:nvPr/>
        </p:nvSpPr>
        <p:spPr>
          <a:xfrm>
            <a:off x="6675120" y="2176272"/>
            <a:ext cx="1005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9E7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2025</a:t>
            </a:r>
            <a:endParaRPr lang="en-US" sz="2200" dirty="0"/>
          </a:p>
        </p:txBody>
      </p:sp>
      <p:sp>
        <p:nvSpPr>
          <p:cNvPr id="18" name="Text 14"/>
          <p:cNvSpPr/>
          <p:nvPr/>
        </p:nvSpPr>
        <p:spPr>
          <a:xfrm>
            <a:off x="7818120" y="214884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Bachelor of Commerce in Marketing Management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7818120" y="2578608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7CA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of Johannesburg</a:t>
            </a:r>
            <a:endParaRPr lang="en-US" sz="1050" dirty="0"/>
          </a:p>
        </p:txBody>
      </p:sp>
      <p:sp>
        <p:nvSpPr>
          <p:cNvPr id="20" name="Shape 16"/>
          <p:cNvSpPr/>
          <p:nvPr/>
        </p:nvSpPr>
        <p:spPr>
          <a:xfrm>
            <a:off x="6446520" y="3182112"/>
            <a:ext cx="5120640" cy="1005840"/>
          </a:xfrm>
          <a:prstGeom prst="roundRect">
            <a:avLst>
              <a:gd name="adj" fmla="val 7273"/>
            </a:avLst>
          </a:prstGeom>
          <a:solidFill>
            <a:srgbClr val="1B2456"/>
          </a:solidFill>
          <a:ln/>
        </p:spPr>
      </p:sp>
      <p:sp>
        <p:nvSpPr>
          <p:cNvPr id="21" name="Text 17"/>
          <p:cNvSpPr/>
          <p:nvPr/>
        </p:nvSpPr>
        <p:spPr>
          <a:xfrm>
            <a:off x="6675120" y="3346704"/>
            <a:ext cx="1005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9E7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2024</a:t>
            </a:r>
            <a:endParaRPr lang="en-US" sz="2200" dirty="0"/>
          </a:p>
        </p:txBody>
      </p:sp>
      <p:sp>
        <p:nvSpPr>
          <p:cNvPr id="22" name="Text 18"/>
          <p:cNvSpPr/>
          <p:nvPr/>
        </p:nvSpPr>
        <p:spPr>
          <a:xfrm>
            <a:off x="7818120" y="3319272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Artelligence in the 4IR</a:t>
            </a:r>
            <a:endParaRPr lang="en-US" sz="1200" dirty="0"/>
          </a:p>
        </p:txBody>
      </p:sp>
      <p:sp>
        <p:nvSpPr>
          <p:cNvPr id="23" name="Text 19"/>
          <p:cNvSpPr/>
          <p:nvPr/>
        </p:nvSpPr>
        <p:spPr>
          <a:xfrm>
            <a:off x="7818120" y="374904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7CA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Development</a:t>
            </a:r>
            <a:endParaRPr lang="en-US" sz="1050" dirty="0"/>
          </a:p>
        </p:txBody>
      </p:sp>
      <p:sp>
        <p:nvSpPr>
          <p:cNvPr id="24" name="Shape 20"/>
          <p:cNvSpPr/>
          <p:nvPr/>
        </p:nvSpPr>
        <p:spPr>
          <a:xfrm>
            <a:off x="6446520" y="4352544"/>
            <a:ext cx="5120640" cy="1005840"/>
          </a:xfrm>
          <a:prstGeom prst="roundRect">
            <a:avLst>
              <a:gd name="adj" fmla="val 7273"/>
            </a:avLst>
          </a:prstGeom>
          <a:solidFill>
            <a:srgbClr val="1B2456"/>
          </a:solidFill>
          <a:ln/>
        </p:spPr>
      </p:sp>
      <p:sp>
        <p:nvSpPr>
          <p:cNvPr id="25" name="Text 21"/>
          <p:cNvSpPr/>
          <p:nvPr/>
        </p:nvSpPr>
        <p:spPr>
          <a:xfrm>
            <a:off x="6675120" y="4517136"/>
            <a:ext cx="1005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9E7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2024</a:t>
            </a:r>
            <a:endParaRPr lang="en-US" sz="2200" dirty="0"/>
          </a:p>
        </p:txBody>
      </p:sp>
      <p:sp>
        <p:nvSpPr>
          <p:cNvPr id="26" name="Text 22"/>
          <p:cNvSpPr/>
          <p:nvPr/>
        </p:nvSpPr>
        <p:spPr>
          <a:xfrm>
            <a:off x="7818120" y="4489704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Information Technology</a:t>
            </a:r>
            <a:endParaRPr lang="en-US" sz="1200" dirty="0"/>
          </a:p>
        </p:txBody>
      </p:sp>
      <p:sp>
        <p:nvSpPr>
          <p:cNvPr id="27" name="Text 23"/>
          <p:cNvSpPr/>
          <p:nvPr/>
        </p:nvSpPr>
        <p:spPr>
          <a:xfrm>
            <a:off x="7818120" y="4919472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7CA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Development</a:t>
            </a:r>
            <a:endParaRPr lang="en-US" sz="1050" dirty="0"/>
          </a:p>
        </p:txBody>
      </p:sp>
      <p:sp>
        <p:nvSpPr>
          <p:cNvPr id="28" name="Shape 24"/>
          <p:cNvSpPr/>
          <p:nvPr/>
        </p:nvSpPr>
        <p:spPr>
          <a:xfrm>
            <a:off x="640080" y="5623560"/>
            <a:ext cx="10908792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4E5EE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822960" y="5623560"/>
            <a:ext cx="336194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6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IsiXhosa (Native) · English (Fluent) · Sepedi (Conversational)</a:t>
            </a:r>
            <a:endParaRPr lang="en-US" sz="1100" dirty="0"/>
          </a:p>
        </p:txBody>
      </p:sp>
      <p:sp>
        <p:nvSpPr>
          <p:cNvPr id="30" name="Shape 26"/>
          <p:cNvSpPr/>
          <p:nvPr/>
        </p:nvSpPr>
        <p:spPr>
          <a:xfrm>
            <a:off x="4322064" y="5742432"/>
            <a:ext cx="0" cy="640080"/>
          </a:xfrm>
          <a:prstGeom prst="line">
            <a:avLst/>
          </a:prstGeom>
          <a:noFill/>
          <a:ln w="12700">
            <a:solidFill>
              <a:srgbClr val="E4E5EE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4459224" y="5623560"/>
            <a:ext cx="336194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6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 African citizen</a:t>
            </a:r>
            <a:endParaRPr lang="en-US" sz="1100" dirty="0"/>
          </a:p>
        </p:txBody>
      </p:sp>
      <p:sp>
        <p:nvSpPr>
          <p:cNvPr id="32" name="Shape 28"/>
          <p:cNvSpPr/>
          <p:nvPr/>
        </p:nvSpPr>
        <p:spPr>
          <a:xfrm>
            <a:off x="7958328" y="5742432"/>
            <a:ext cx="0" cy="640080"/>
          </a:xfrm>
          <a:prstGeom prst="line">
            <a:avLst/>
          </a:prstGeom>
          <a:noFill/>
          <a:ln w="12700">
            <a:solidFill>
              <a:srgbClr val="E4E5EE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8095488" y="5623560"/>
            <a:ext cx="336194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6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Immediately available for internships, part-time, or full-time roles</a:t>
            </a:r>
            <a:endParaRPr lang="en-US" sz="1100" dirty="0"/>
          </a:p>
        </p:txBody>
      </p:sp>
      <p:sp>
        <p:nvSpPr>
          <p:cNvPr id="34" name="Text 30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9BC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  <p:transition spd="slow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245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645920"/>
            <a:ext cx="5029200" cy="5029200"/>
          </a:xfrm>
          <a:prstGeom prst="ellipse">
            <a:avLst/>
          </a:prstGeom>
          <a:solidFill>
            <a:srgbClr val="2F3C7E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4206240"/>
            <a:ext cx="4572000" cy="4572000"/>
          </a:xfrm>
          <a:prstGeom prst="ellipse">
            <a:avLst/>
          </a:prstGeom>
          <a:solidFill>
            <a:srgbClr val="2F3C7E">
              <a:alpha val="5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7772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CONNECT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85800" y="1234440"/>
            <a:ext cx="77724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Ready to bring initiative</a:t>
            </a:r>
            <a:endParaRPr lang="en-US" sz="38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 your team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731520" y="2788920"/>
            <a:ext cx="6949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CF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am immediately available for internships, part-time, or full-time roles in marketing, brand support, campaign planning, and related fields.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1520" y="3749040"/>
            <a:ext cx="457200" cy="457200"/>
          </a:xfrm>
          <a:prstGeom prst="ellipse">
            <a:avLst/>
          </a:prstGeom>
          <a:solidFill>
            <a:srgbClr val="2F3C7E"/>
          </a:solidFill>
          <a:ln/>
        </p:spPr>
      </p:sp>
      <p:pic>
        <p:nvPicPr>
          <p:cNvPr id="8" name="Image 0" descr="/home/claude/jali_pptx/icons/mail_F9E79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" y="3867912"/>
            <a:ext cx="219456" cy="21945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325880" y="3730752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AA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1325880" y="3968496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jali.nwabisa14@gmail.com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389120" y="3749040"/>
            <a:ext cx="457200" cy="457200"/>
          </a:xfrm>
          <a:prstGeom prst="ellipse">
            <a:avLst/>
          </a:prstGeom>
          <a:solidFill>
            <a:srgbClr val="2F3C7E"/>
          </a:solidFill>
          <a:ln/>
        </p:spPr>
      </p:sp>
      <p:pic>
        <p:nvPicPr>
          <p:cNvPr id="12" name="Image 1" descr="/home/claude/jali_pptx/icons/phone_F9E79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07992" y="3867912"/>
            <a:ext cx="219456" cy="21945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983480" y="3730752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AA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</a:t>
            </a:r>
            <a:endParaRPr lang="en-US" sz="1050" dirty="0"/>
          </a:p>
        </p:txBody>
      </p:sp>
      <p:sp>
        <p:nvSpPr>
          <p:cNvPr id="14" name="Text 10"/>
          <p:cNvSpPr/>
          <p:nvPr/>
        </p:nvSpPr>
        <p:spPr>
          <a:xfrm>
            <a:off x="4983480" y="3968496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073 022 4379 · 083 687 4565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731520" y="4663440"/>
            <a:ext cx="457200" cy="457200"/>
          </a:xfrm>
          <a:prstGeom prst="ellipse">
            <a:avLst/>
          </a:prstGeom>
          <a:solidFill>
            <a:srgbClr val="2F3C7E"/>
          </a:solidFill>
          <a:ln/>
        </p:spPr>
      </p:sp>
      <p:pic>
        <p:nvPicPr>
          <p:cNvPr id="16" name="Image 2" descr="/home/claude/jali_pptx/icons/linkedin_F9E79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0392" y="4782312"/>
            <a:ext cx="219456" cy="21945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325880" y="4645152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AA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</a:t>
            </a:r>
            <a:endParaRPr lang="en-US" sz="1050" dirty="0"/>
          </a:p>
        </p:txBody>
      </p:sp>
      <p:sp>
        <p:nvSpPr>
          <p:cNvPr id="18" name="Text 13"/>
          <p:cNvSpPr/>
          <p:nvPr/>
        </p:nvSpPr>
        <p:spPr>
          <a:xfrm>
            <a:off x="1325880" y="4882896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linkedin.com/in/nwabisa-jali-136b67338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4389120" y="4663440"/>
            <a:ext cx="457200" cy="457200"/>
          </a:xfrm>
          <a:prstGeom prst="ellipse">
            <a:avLst/>
          </a:prstGeom>
          <a:solidFill>
            <a:srgbClr val="2F3C7E"/>
          </a:solidFill>
          <a:ln/>
        </p:spPr>
      </p:sp>
      <p:pic>
        <p:nvPicPr>
          <p:cNvPr id="20" name="Image 3" descr="/home/claude/jali_pptx/icons/github_F9E795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07992" y="4782312"/>
            <a:ext cx="219456" cy="219456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4983480" y="4645152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AA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1050" dirty="0"/>
          </a:p>
        </p:txBody>
      </p:sp>
      <p:sp>
        <p:nvSpPr>
          <p:cNvPr id="22" name="Text 16"/>
          <p:cNvSpPr/>
          <p:nvPr/>
        </p:nvSpPr>
        <p:spPr>
          <a:xfrm>
            <a:off x="4983480" y="4882896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github.com/jalinwabisa14-prog</a:t>
            </a:r>
            <a:endParaRPr lang="en-US" sz="1200" dirty="0"/>
          </a:p>
        </p:txBody>
      </p:sp>
      <p:sp>
        <p:nvSpPr>
          <p:cNvPr id="23" name="Shape 17"/>
          <p:cNvSpPr/>
          <p:nvPr/>
        </p:nvSpPr>
        <p:spPr>
          <a:xfrm>
            <a:off x="8138160" y="1188720"/>
            <a:ext cx="3383280" cy="4480560"/>
          </a:xfrm>
          <a:prstGeom prst="roundRect">
            <a:avLst>
              <a:gd name="adj" fmla="val 2703"/>
            </a:avLst>
          </a:prstGeom>
          <a:solidFill>
            <a:srgbClr val="2F3C7E"/>
          </a:solidFill>
          <a:ln/>
        </p:spPr>
      </p:sp>
      <p:sp>
        <p:nvSpPr>
          <p:cNvPr id="24" name="Shape 18"/>
          <p:cNvSpPr/>
          <p:nvPr/>
        </p:nvSpPr>
        <p:spPr>
          <a:xfrm>
            <a:off x="9326880" y="1554480"/>
            <a:ext cx="1005840" cy="1005840"/>
          </a:xfrm>
          <a:prstGeom prst="ellipse">
            <a:avLst/>
          </a:prstGeom>
          <a:solidFill>
            <a:srgbClr val="1B2456"/>
          </a:solidFill>
          <a:ln/>
        </p:spPr>
      </p:sp>
      <p:pic>
        <p:nvPicPr>
          <p:cNvPr id="25" name="Image 4" descr="/home/claude/jali_pptx/icons/fileText_F9E795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01200" y="1828800"/>
            <a:ext cx="457200" cy="45720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8366760" y="278892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Employers</a:t>
            </a:r>
            <a:endParaRPr lang="en-US" sz="1500" dirty="0"/>
          </a:p>
        </p:txBody>
      </p:sp>
      <p:sp>
        <p:nvSpPr>
          <p:cNvPr id="27" name="Text 20"/>
          <p:cNvSpPr/>
          <p:nvPr/>
        </p:nvSpPr>
        <p:spPr>
          <a:xfrm>
            <a:off x="8366760" y="320040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Nwabisa_Q_Jali_CV.pdf</a:t>
            </a:r>
            <a:endParaRPr lang="en-US" sz="1150" dirty="0"/>
          </a:p>
        </p:txBody>
      </p:sp>
      <p:sp>
        <p:nvSpPr>
          <p:cNvPr id="28" name="Text 21"/>
          <p:cNvSpPr/>
          <p:nvPr/>
        </p:nvSpPr>
        <p:spPr>
          <a:xfrm>
            <a:off x="8366760" y="3611880"/>
            <a:ext cx="2926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F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curriculum vitae including education, work experience, certifications, skills, and contact details.</a:t>
            </a:r>
            <a:endParaRPr lang="en-US" sz="1100" dirty="0"/>
          </a:p>
        </p:txBody>
      </p:sp>
      <p:sp>
        <p:nvSpPr>
          <p:cNvPr id="29" name="Shape 22"/>
          <p:cNvSpPr/>
          <p:nvPr/>
        </p:nvSpPr>
        <p:spPr>
          <a:xfrm>
            <a:off x="8366760" y="4800600"/>
            <a:ext cx="2880360" cy="502920"/>
          </a:xfrm>
          <a:prstGeom prst="roundRect">
            <a:avLst>
              <a:gd name="adj" fmla="val 49091"/>
            </a:avLst>
          </a:prstGeom>
          <a:solidFill>
            <a:srgbClr val="F96167"/>
          </a:solidFill>
          <a:ln/>
        </p:spPr>
      </p:sp>
      <p:sp>
        <p:nvSpPr>
          <p:cNvPr id="30" name="Text 23"/>
          <p:cNvSpPr/>
          <p:nvPr/>
        </p:nvSpPr>
        <p:spPr>
          <a:xfrm>
            <a:off x="8366760" y="4800600"/>
            <a:ext cx="2880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CV</a:t>
            </a:r>
            <a:endParaRPr lang="en-US" sz="1250" dirty="0"/>
          </a:p>
        </p:txBody>
      </p:sp>
      <p:sp>
        <p:nvSpPr>
          <p:cNvPr id="31" name="Text 24"/>
          <p:cNvSpPr/>
          <p:nvPr/>
        </p:nvSpPr>
        <p:spPr>
          <a:xfrm>
            <a:off x="731520" y="62636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A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Orlando East, Soweto, South Africa</a:t>
            </a:r>
            <a:endParaRPr lang="en-US" sz="1100" dirty="0"/>
          </a:p>
        </p:txBody>
      </p:sp>
      <p:sp>
        <p:nvSpPr>
          <p:cNvPr id="32" name="Text 25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B9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952</Words>
  <Application>Microsoft Office PowerPoint</Application>
  <PresentationFormat>Widescreen</PresentationFormat>
  <Paragraphs>187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Nwabisa Queen Jali</cp:lastModifiedBy>
  <cp:revision>2</cp:revision>
  <dcterms:created xsi:type="dcterms:W3CDTF">2026-08-20T07:54:54Z</dcterms:created>
  <dcterms:modified xsi:type="dcterms:W3CDTF">2026-08-20T08:04:52Z</dcterms:modified>
</cp:coreProperties>
</file>